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E28AA6-2891-4B8B-83EB-426D49BFAAA5}">
  <a:tblStyle styleId="{FBE28AA6-2891-4B8B-83EB-426D49BFAA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80a3d02d7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180a3d02d7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f157d98db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f157d98db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157d98db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157d98db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c88798cc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c88798cc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f157d98db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f157d98db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902d17f3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902d17f3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ca11ed1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ca11ed1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a15ddc2d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a15ddc2d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a15ddc2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a15ddc2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a15ddc2d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a15ddc2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5a9b140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f5a9b140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c5758db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c5758db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b5ccdf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b5ccdf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157d98db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f157d98db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157d98d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157d98d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157d98db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f157d98db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157d98db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157d98db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f157d98dbb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f157d98db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f157d98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f157d98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f157d98d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f157d98d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yc.uni1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http://web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oss.uni1.de" TargetMode="External"/><Relationship Id="rId4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FOSS [1]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FOSS A01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0" y="469087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Free and Open-Source 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Goals</a:t>
            </a:r>
            <a:endParaRPr/>
          </a:p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how to use open-source software in projects and products correctly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 the software bill of materials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 open source governance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 open source license compliance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 vulnerabilities from open source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Understand open source regulation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kills Required for Course</a:t>
            </a:r>
            <a:endParaRPr/>
          </a:p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Prerequisites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Required skills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read open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operate open-source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Proficiency with tools and command 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Position in Curriculum</a:t>
            </a:r>
            <a:endParaRPr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74" name="Google Shape;74;p11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{FBE28AA6-2891-4B8B-83EB-426D49BFAAA5}</a:tableStyleId>
              </a:tblPr>
              <a:tblGrid>
                <a:gridCol w="859550"/>
                <a:gridCol w="859550"/>
                <a:gridCol w="859550"/>
                <a:gridCol w="859550"/>
                <a:gridCol w="859550"/>
                <a:gridCol w="859550"/>
                <a:gridCol w="859550"/>
                <a:gridCol w="859550"/>
                <a:gridCol w="859550"/>
                <a:gridCol w="859550"/>
              </a:tblGrid>
              <a:tr h="4572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Bachelor’s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Master’s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6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ADAP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MATH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COACH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COACH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vMerge="1"/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PRAK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PRAK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PRAK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PRAK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PRAK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vMerge="1"/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BATH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vMerge="1"/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KOLL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KOLL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Courses and Modules</a:t>
            </a:r>
            <a:endParaRPr/>
          </a:p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81" name="Google Shape;81;p1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{FBE28AA6-2891-4B8B-83EB-426D49BFAAA5}</a:tableStyleId>
              </a:tblPr>
              <a:tblGrid>
                <a:gridCol w="1432575"/>
                <a:gridCol w="1432575"/>
                <a:gridCol w="1432575"/>
                <a:gridCol w="1432575"/>
                <a:gridCol w="1432575"/>
                <a:gridCol w="1432575"/>
              </a:tblGrid>
              <a:tr h="609600">
                <a:tc gridSpan="2"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Courses (Lehrveranstaltungen)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6096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Lecture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(2 SWS)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Exercise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(2 SWS)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ECTS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096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Modules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of Modules</a:t>
            </a:r>
            <a:endParaRPr/>
          </a:p>
        </p:txBody>
      </p:sp>
      <p:graphicFrame>
        <p:nvGraphicFramePr>
          <p:cNvPr id="87" name="Google Shape;87;p13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{FBE28AA6-2891-4B8B-83EB-426D49BFAAA5}</a:tableStyleId>
              </a:tblPr>
              <a:tblGrid>
                <a:gridCol w="1432550"/>
                <a:gridCol w="1432550"/>
                <a:gridCol w="1432550"/>
                <a:gridCol w="1432550"/>
                <a:gridCol w="1432550"/>
                <a:gridCol w="1432550"/>
              </a:tblGrid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University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60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FAU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Erlangen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096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Modules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096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available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= not available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FOSS vs. FLOSS vs. COSS vs. PROD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FOSS is not FLOSS nor COSS nor PROD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FLOSS or COSS or PROD are still available modules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do not take FOSS if you want the old FLOSS or COSS or PROD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FOSS content is different from these other modules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take FOSS this semester, you agree to this new FOSS</a:t>
            </a:r>
            <a:endParaRPr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Content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compliance with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Licenses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Regulation</a:t>
            </a:r>
            <a:endParaRPr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Scope of Open Source Compliance</a:t>
            </a:r>
            <a:endParaRPr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4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274320" y="2743200"/>
            <a:ext cx="4114800" cy="1828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B. Open source </a:t>
            </a:r>
            <a:r>
              <a:rPr b="1" lang="en"/>
              <a:t>governance</a:t>
            </a:r>
            <a:endParaRPr b="1" sz="18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 startAt="4"/>
            </a:pPr>
            <a:r>
              <a:rPr lang="en" sz="1400"/>
              <a:t>Open-source software licenses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 startAt="4"/>
            </a:pPr>
            <a:r>
              <a:rPr lang="en" sz="1400"/>
              <a:t>Copyleft and intellectual property risks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 startAt="4"/>
            </a:pPr>
            <a:r>
              <a:rPr lang="en" sz="1400"/>
              <a:t>The open source program office</a:t>
            </a:r>
            <a:endParaRPr sz="1400"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Overview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274320" y="914400"/>
            <a:ext cx="4114800" cy="1828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A. </a:t>
            </a:r>
            <a:r>
              <a:rPr b="1" lang="en"/>
              <a:t>The software bill of materials</a:t>
            </a:r>
            <a:endParaRPr b="1" sz="18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software bill of materials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The dependency graph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Software composition analysis</a:t>
            </a:r>
            <a:endParaRPr sz="1400"/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9" name="Google Shape;119;p17"/>
          <p:cNvSpPr txBox="1"/>
          <p:nvPr>
            <p:ph idx="2" type="body"/>
          </p:nvPr>
        </p:nvSpPr>
        <p:spPr>
          <a:xfrm>
            <a:off x="4846320" y="914400"/>
            <a:ext cx="4114800" cy="18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C. </a:t>
            </a:r>
            <a:r>
              <a:rPr b="1" lang="en"/>
              <a:t>License compliance</a:t>
            </a:r>
            <a:endParaRPr b="1" sz="18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 startAt="7"/>
            </a:pPr>
            <a:r>
              <a:rPr lang="en" sz="1400"/>
              <a:t>The open source legal notices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 startAt="7"/>
            </a:pPr>
            <a:r>
              <a:rPr lang="en" sz="1400"/>
              <a:t>Efficient engineering workflows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 startAt="7"/>
            </a:pPr>
            <a:r>
              <a:rPr lang="en" sz="1400"/>
              <a:t>Current compliance challenges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>
            <p:ph idx="2" type="body"/>
          </p:nvPr>
        </p:nvSpPr>
        <p:spPr>
          <a:xfrm>
            <a:off x="4846320" y="2743200"/>
            <a:ext cx="4114800" cy="18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D. </a:t>
            </a:r>
            <a:r>
              <a:rPr b="1" lang="en"/>
              <a:t>Regulatory compliance</a:t>
            </a:r>
            <a:endParaRPr b="1" sz="1800"/>
          </a:p>
          <a:p>
            <a:pPr indent="-27178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 startAt="10"/>
            </a:pPr>
            <a:r>
              <a:rPr lang="en" sz="1400"/>
              <a:t>The software supply chain</a:t>
            </a:r>
            <a:endParaRPr sz="1400"/>
          </a:p>
          <a:p>
            <a:pPr indent="-27178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 startAt="10"/>
            </a:pPr>
            <a:r>
              <a:rPr lang="en" sz="1400"/>
              <a:t>Open source compliance regulation</a:t>
            </a:r>
            <a:endParaRPr sz="1400"/>
          </a:p>
          <a:p>
            <a:pPr indent="-27178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 startAt="10"/>
            </a:pPr>
            <a:r>
              <a:rPr lang="en" sz="1400"/>
              <a:t>Vulnerability management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Four exercises of different weighting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 more than one exercise and you fail the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Grading</a:t>
            </a:r>
            <a:endParaRPr/>
          </a:p>
        </p:txBody>
      </p: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Management System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sign up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https://myc.uni1.de</a:t>
            </a:r>
            <a:r>
              <a:rPr lang="en"/>
              <a:t> for the course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sure your first and last name match your university credentials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0" y="4233675"/>
            <a:ext cx="789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[1] Please </a:t>
            </a:r>
            <a:r>
              <a:rPr b="1" lang="en">
                <a:solidFill>
                  <a:schemeClr val="dk1"/>
                </a:solidFill>
              </a:rPr>
              <a:t>use your university email address</a:t>
            </a:r>
            <a:r>
              <a:rPr lang="en">
                <a:solidFill>
                  <a:schemeClr val="dk1"/>
                </a:solidFill>
              </a:rPr>
              <a:t>; do not use GMX or </a:t>
            </a:r>
            <a:r>
              <a:rPr lang="en" u="sng">
                <a:solidFill>
                  <a:schemeClr val="hlink"/>
                </a:solidFill>
                <a:hlinkClick r:id="rId5"/>
              </a:rPr>
              <a:t>web.de</a:t>
            </a:r>
            <a:r>
              <a:rPr lang="en">
                <a:solidFill>
                  <a:schemeClr val="dk1"/>
                </a:solidFill>
              </a:rPr>
              <a:t> email addresses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Receiving a Grade for the Course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management and exam registration are two separate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want to receive a grade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register through your university’s exam registration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degree program may have split the course into two (VL + UE)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Please check asap that the course is available in your degree program!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Otherwise: No grade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Oral or Written Exam [1]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914400"/>
            <a:ext cx="3657601" cy="36495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0" y="423367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You still have to register for the course</a:t>
            </a:r>
            <a:endParaRPr/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Language</a:t>
            </a:r>
            <a:endParaRPr/>
          </a:p>
        </p:txBody>
      </p:sp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and homework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Lecturer: English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Student: English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Organization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organization a.k.a. information index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https://foss.uni1.de</a:t>
            </a:r>
            <a:r>
              <a:rPr lang="en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schedule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Schedule tab on Course organization doc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Rhythm</a:t>
            </a:r>
            <a:endParaRPr/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Lecture (class discussion)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Exercise (homework review)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Homework (self-organized)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Communication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 are sent by email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 email aliases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 course management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Administrative questions to teaching team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ask your questions in the course forum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private questions, use the teaching team email alias</a:t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License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Copyright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