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602C2C5-D920-434D-A42E-D2763E1DA5D8}">
  <a:tblStyle styleId="{8602C2C5-D920-434D-A42E-D2763E1DA5D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180a3d02d78_1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180a3d02d78_1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f157d98dbb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f157d98dbb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f157d98db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f157d98db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h357d00181260bfe6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h357d00181260bfe6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f157d98dbb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f157d98dbb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902d17f37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902d17f37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6ca11ed1b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6ca11ed1b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8a15ddc2d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8a15ddc2d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357d00181260bfe6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h357d00181260bfe6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f5a9b1405f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f5a9b1405f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3cd244f621970db5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h3cd244f621970db5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2505d1ff4dd15079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h2505d1ff4dd15079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h5b3ce2b894bc01b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h5b3ce2b894bc01b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h3c29e63195308fa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h3c29e63195308fa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f157d98dbb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f157d98dbb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f157d98db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f157d98db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f157d98db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f157d98db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f157d98dbb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f157d98dbb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f157d98dbb_1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f157d98dbb_1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f157d98db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f157d98db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f157d98db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f157d98db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foss.uni1.de" TargetMode="External"/><Relationship Id="rId4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FOSS [1]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FOSS A01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/>
          </a:p>
        </p:txBody>
      </p:sp>
      <p:sp>
        <p:nvSpPr>
          <p:cNvPr id="53" name="Google Shape;53;p8"/>
          <p:cNvSpPr txBox="1"/>
          <p:nvPr/>
        </p:nvSpPr>
        <p:spPr>
          <a:xfrm>
            <a:off x="0" y="4690872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Free and Open-Source Software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Goals</a:t>
            </a:r>
            <a:endParaRPr/>
          </a:p>
        </p:txBody>
      </p:sp>
      <p:sp>
        <p:nvSpPr>
          <p:cNvPr id="59" name="Google Shape;59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Learning objectives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 how to use open-source software in projects and products correctly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Understand the software bill of materials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Understand open source governance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Understand open source license compliance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Understand vulnerabilities from open source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Understand open source regulation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</a:t>
            </a:r>
            <a:r>
              <a:rPr lang="en"/>
              <a:t>kills Required for Course</a:t>
            </a:r>
            <a:endParaRPr/>
          </a:p>
        </p:txBody>
      </p:sp>
      <p:sp>
        <p:nvSpPr>
          <p:cNvPr id="66" name="Google Shape;66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Prerequisites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Required skills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Ability to read open source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Ability to operate open-source software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Proficiency with tools and command line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Position in Curriculum</a:t>
            </a:r>
            <a:endParaRPr/>
          </a:p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74" name="Google Shape;74;p11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{8602C2C5-D920-434D-A42E-D2763E1DA5D8}</a:tableStyleId>
              </a:tblPr>
              <a:tblGrid>
                <a:gridCol w="1074425"/>
                <a:gridCol w="1074425"/>
                <a:gridCol w="1074425"/>
                <a:gridCol w="1074425"/>
                <a:gridCol w="1074425"/>
                <a:gridCol w="1074425"/>
                <a:gridCol w="1074425"/>
                <a:gridCol w="1074425"/>
              </a:tblGrid>
              <a:tr h="5225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Bachelor’s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Master’s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522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5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6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522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ADAP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3"/>
                    </a:solidFill>
                  </a:tcPr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 hMerge="1"/>
                <a:tc hMerge="1"/>
                <a:tc hMerge="1"/>
              </a:tr>
              <a:tr h="522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 hMerge="1"/>
                <a:tc hMerge="1"/>
                <a:tc hMerge="1"/>
              </a:tr>
              <a:tr h="522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Seminar (SEMI)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Seminar (SEMI / ASES)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  <a:tc hMerge="1"/>
                <a:tc hMerge="1"/>
              </a:tr>
              <a:tr h="522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Praktikum (PRAK)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Project (PROJ / ASEP)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  <a:tc hMerge="1"/>
                <a:tc hMerge="1"/>
              </a:tr>
              <a:tr h="522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BATH + 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MATH + 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Courses and Modules</a:t>
            </a:r>
            <a:endParaRPr/>
          </a:p>
        </p:txBody>
      </p:sp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81" name="Google Shape;81;p12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{8602C2C5-D920-434D-A42E-D2763E1DA5D8}</a:tableStyleId>
              </a:tblPr>
              <a:tblGrid>
                <a:gridCol w="1432575"/>
                <a:gridCol w="1432575"/>
                <a:gridCol w="1432575"/>
                <a:gridCol w="1432575"/>
                <a:gridCol w="1432575"/>
                <a:gridCol w="1432575"/>
              </a:tblGrid>
              <a:tr h="609600">
                <a:tc gridSpan="2"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Courses (Lehrveranstaltungen)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609600">
                <a:tc gridSpan="2" vMerge="1"/>
                <a:tc hMerge="1"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Lecture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(2 SWS)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Exercise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(2 SWS)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Total ECTS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09600">
                <a:tc row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Modules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5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096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96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096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Availability of Modules</a:t>
            </a:r>
            <a:endParaRPr/>
          </a:p>
        </p:txBody>
      </p:sp>
      <p:graphicFrame>
        <p:nvGraphicFramePr>
          <p:cNvPr id="87" name="Google Shape;87;p13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{8602C2C5-D920-434D-A42E-D2763E1DA5D8}</a:tableStyleId>
              </a:tblPr>
              <a:tblGrid>
                <a:gridCol w="1432550"/>
                <a:gridCol w="1432550"/>
                <a:gridCol w="1432550"/>
                <a:gridCol w="1432550"/>
                <a:gridCol w="1432550"/>
                <a:gridCol w="1432550"/>
              </a:tblGrid>
              <a:tr h="6096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University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6096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FAU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 Erlangen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09600">
                <a:tc row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Modules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09600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09600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09600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8" name="Google Shape;88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 = available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– = not available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FOSS vs. FLOSS vs. COSS vs. PROD</a:t>
            </a:r>
            <a:endParaRPr/>
          </a:p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FOSS is not FLOSS nor COSS nor PROD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FLOSS or COSS or PROD are still available modules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Please do not take FOSS if you want the old FLOSS or COSS or PROD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FOSS content is different from these other modules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If you take FOSS this semester, you agree to this new FOSS</a:t>
            </a:r>
            <a:endParaRPr/>
          </a:p>
        </p:txBody>
      </p:sp>
      <p:sp>
        <p:nvSpPr>
          <p:cNvPr id="96" name="Google Shape;96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Content</a:t>
            </a:r>
            <a:endParaRPr/>
          </a:p>
        </p:txBody>
      </p:sp>
      <p:sp>
        <p:nvSpPr>
          <p:cNvPr id="102" name="Google Shape;102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 compliance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SBOM management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 compliance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Regulatory compliance</a:t>
            </a:r>
            <a:endParaRPr/>
          </a:p>
        </p:txBody>
      </p:sp>
      <p:sp>
        <p:nvSpPr>
          <p:cNvPr id="103" name="Google Shape;103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Lecture Overview</a:t>
            </a:r>
            <a:endParaRPr/>
          </a:p>
        </p:txBody>
      </p:sp>
      <p:sp>
        <p:nvSpPr>
          <p:cNvPr id="109" name="Google Shape;109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(lecture 1, today)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SBOM management (lectures 2-4)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License compliance (lectures 5-9)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Regulatory compliance (lectures 10-end)</a:t>
            </a:r>
            <a:endParaRPr/>
          </a:p>
        </p:txBody>
      </p:sp>
      <p:sp>
        <p:nvSpPr>
          <p:cNvPr id="110" name="Google Shape;110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sequence of exercises building on each other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exercises are graded and will be reviewed in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Grading</a:t>
            </a:r>
            <a:endParaRPr/>
          </a:p>
        </p:txBody>
      </p:sp>
      <p:sp>
        <p:nvSpPr>
          <p:cNvPr id="117" name="Google Shape;117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of AIs in Class and for Homework</a:t>
            </a:r>
            <a:endParaRPr/>
          </a:p>
        </p:txBody>
      </p: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24" name="Google Shape;124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use of AIs to support your work is generally </a:t>
            </a:r>
            <a:r>
              <a:rPr lang="en"/>
              <a:t>allowed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remain responsible for the results of your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Use of an AI has to be declared together with the work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Responsibility for Internet Connection</a:t>
            </a:r>
            <a:endParaRPr/>
          </a:p>
        </p:txBody>
      </p:sp>
      <p:sp>
        <p:nvSpPr>
          <p:cNvPr id="130" name="Google Shape;130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this is an online course, you are responsible for your internet connection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ask you a question, you need to be able to answer</a:t>
            </a:r>
            <a:endParaRPr/>
          </a:p>
        </p:txBody>
      </p:sp>
      <p:sp>
        <p:nvSpPr>
          <p:cNvPr id="131" name="Google Shape;131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SCA Tool</a:t>
            </a:r>
            <a:endParaRPr/>
          </a:p>
        </p:txBody>
      </p:sp>
      <p:sp>
        <p:nvSpPr>
          <p:cNvPr id="137" name="Google Shape;137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are responsible for finishing your homework before class day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Complaints about SCA Tool on class day will be ignored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If you complain nevertheless, you’ll get a malus</a:t>
            </a:r>
            <a:endParaRPr/>
          </a:p>
        </p:txBody>
      </p:sp>
      <p:sp>
        <p:nvSpPr>
          <p:cNvPr id="138" name="Google Shape;138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Steps to Proper Registration</a:t>
            </a:r>
            <a:endParaRPr/>
          </a:p>
        </p:txBody>
      </p:sp>
      <p:sp>
        <p:nvSpPr>
          <p:cNvPr id="144" name="Google Shape;144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45" name="Google Shape;145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350" y="1657350"/>
            <a:ext cx="182880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02794" y="1657350"/>
            <a:ext cx="2738413" cy="1828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47" name="Google Shape;147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42850" y="1657350"/>
            <a:ext cx="1828800" cy="1828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Oral or Written Exam [1]</a:t>
            </a:r>
            <a:endParaRPr/>
          </a:p>
        </p:txBody>
      </p:sp>
      <p:pic>
        <p:nvPicPr>
          <p:cNvPr id="153" name="Google Shape;15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0" y="914400"/>
            <a:ext cx="3657601" cy="3649596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2"/>
          <p:cNvSpPr txBox="1"/>
          <p:nvPr/>
        </p:nvSpPr>
        <p:spPr>
          <a:xfrm>
            <a:off x="0" y="4233672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You still have to register for the course</a:t>
            </a:r>
            <a:endParaRPr/>
          </a:p>
        </p:txBody>
      </p:sp>
      <p:sp>
        <p:nvSpPr>
          <p:cNvPr id="155" name="Google Shape;155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Language</a:t>
            </a:r>
            <a:endParaRPr/>
          </a:p>
        </p:txBody>
      </p:sp>
      <p:sp>
        <p:nvSpPr>
          <p:cNvPr id="161" name="Google Shape;161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62" name="Google Shape;162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 and homework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Lecturer: English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Student: English or German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Organization</a:t>
            </a:r>
            <a:endParaRPr/>
          </a:p>
        </p:txBody>
      </p:sp>
      <p:sp>
        <p:nvSpPr>
          <p:cNvPr id="168" name="Google Shape;168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https://foss.uni1.de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 Rhythm</a:t>
            </a:r>
            <a:endParaRPr/>
          </a:p>
        </p:txBody>
      </p:sp>
      <p:sp>
        <p:nvSpPr>
          <p:cNvPr id="175" name="Google Shape;175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76" name="Google Shape;176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Lecture (class discussion)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Exercise (homework review)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Homework (self-organized)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Communication</a:t>
            </a:r>
            <a:endParaRPr/>
          </a:p>
        </p:txBody>
      </p:sp>
      <p:sp>
        <p:nvSpPr>
          <p:cNvPr id="182" name="Google Shape;182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Announcements are sent by email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email aliases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course management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Administrative questions to teaching team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Please ask your questions in the course forum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private questions, use the teaching team email alias</a:t>
            </a:r>
            <a:endParaRPr/>
          </a:p>
        </p:txBody>
      </p:sp>
      <p:sp>
        <p:nvSpPr>
          <p:cNvPr id="183" name="Google Shape;183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7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189" name="Google Shape;189;p27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195" name="Google Shape;195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96" name="Google Shape;196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License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Copyright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Copyright 2025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