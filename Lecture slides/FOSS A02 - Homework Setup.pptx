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5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180a3d02d78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180a3d02d78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386403961f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386403961f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h5c492934cf8ff56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h5c492934cf8ff56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haa11325d4d205c6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haa11325d4d205c6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f157d98db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f157d98db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f157d98db7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f157d98db7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oss.cs.fau.de" TargetMode="Externa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  <a:noFill/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grpSp>
        <p:nvGrpSpPr>
          <p:cNvPr id="12" name="Google Shape;12;p2"/>
          <p:cNvGrpSpPr/>
          <p:nvPr/>
        </p:nvGrpSpPr>
        <p:grpSpPr>
          <a:xfrm>
            <a:off x="0" y="2388810"/>
            <a:ext cx="9144000" cy="183000"/>
            <a:chOff x="0" y="2388810"/>
            <a:chExt cx="9144000" cy="183000"/>
          </a:xfrm>
        </p:grpSpPr>
        <p:sp>
          <p:nvSpPr>
            <p:cNvPr id="13" name="Google Shape;13;p2"/>
            <p:cNvSpPr/>
            <p:nvPr/>
          </p:nvSpPr>
          <p:spPr>
            <a:xfrm>
              <a:off x="0" y="2388810"/>
              <a:ext cx="914400" cy="18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914400" y="2388810"/>
              <a:ext cx="1828800" cy="1830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>
              <a:off x="2743200" y="2388810"/>
              <a:ext cx="6400800" cy="1830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0" y="-7"/>
            <a:ext cx="9144000" cy="23865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grpSp>
        <p:nvGrpSpPr>
          <p:cNvPr id="18" name="Google Shape;18;p3"/>
          <p:cNvGrpSpPr/>
          <p:nvPr/>
        </p:nvGrpSpPr>
        <p:grpSpPr>
          <a:xfrm>
            <a:off x="0" y="2432304"/>
            <a:ext cx="9144000" cy="91500"/>
            <a:chOff x="0" y="2386584"/>
            <a:chExt cx="9144000" cy="91500"/>
          </a:xfrm>
        </p:grpSpPr>
        <p:sp>
          <p:nvSpPr>
            <p:cNvPr id="19" name="Google Shape;19;p3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dk1"/>
                </a:solidFill>
              </a:defRPr>
            </a:lvl1pPr>
            <a:lvl2pPr lvl="1" rtl="0">
              <a:buNone/>
              <a:defRPr>
                <a:solidFill>
                  <a:schemeClr val="dk1"/>
                </a:solidFill>
              </a:defRPr>
            </a:lvl2pPr>
            <a:lvl3pPr lvl="2" rtl="0">
              <a:buNone/>
              <a:defRPr>
                <a:solidFill>
                  <a:schemeClr val="dk1"/>
                </a:solidFill>
              </a:defRPr>
            </a:lvl3pPr>
            <a:lvl4pPr lvl="3" rtl="0">
              <a:buNone/>
              <a:defRPr>
                <a:solidFill>
                  <a:schemeClr val="dk1"/>
                </a:solidFill>
              </a:defRPr>
            </a:lvl4pPr>
            <a:lvl5pPr lvl="4" rtl="0">
              <a:buNone/>
              <a:defRPr>
                <a:solidFill>
                  <a:schemeClr val="dk1"/>
                </a:solidFill>
              </a:defRPr>
            </a:lvl5pPr>
            <a:lvl6pPr lvl="5" rtl="0">
              <a:buNone/>
              <a:defRPr>
                <a:solidFill>
                  <a:schemeClr val="dk1"/>
                </a:solidFill>
              </a:defRPr>
            </a:lvl6pPr>
            <a:lvl7pPr lvl="6" rtl="0">
              <a:buNone/>
              <a:defRPr>
                <a:solidFill>
                  <a:schemeClr val="dk1"/>
                </a:solidFill>
              </a:defRPr>
            </a:lvl7pPr>
            <a:lvl8pPr lvl="7" rtl="0">
              <a:buNone/>
              <a:defRPr>
                <a:solidFill>
                  <a:schemeClr val="dk1"/>
                </a:solidFill>
              </a:defRPr>
            </a:lvl8pPr>
            <a:lvl9pPr lvl="8" rtl="0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grpSp>
        <p:nvGrpSpPr>
          <p:cNvPr id="26" name="Google Shape;26;p4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27" name="Google Shape;27;p4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4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4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274320" y="914400"/>
            <a:ext cx="4114800" cy="41148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46320" y="914400"/>
            <a:ext cx="41148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35" name="Google Shape;35;p5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36" name="Google Shape;36;p5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" name="Google Shape;37;p5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" name="Google Shape;38;p5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6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2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>
              <a:solidFill>
                <a:schemeClr val="dk2"/>
              </a:solidFill>
            </a:endParaRPr>
          </a:p>
        </p:txBody>
      </p:sp>
      <p:grpSp>
        <p:nvGrpSpPr>
          <p:cNvPr id="42" name="Google Shape;42;p6"/>
          <p:cNvGrpSpPr/>
          <p:nvPr/>
        </p:nvGrpSpPr>
        <p:grpSpPr>
          <a:xfrm>
            <a:off x="0" y="685800"/>
            <a:ext cx="9144000" cy="91500"/>
            <a:chOff x="0" y="2386584"/>
            <a:chExt cx="9144000" cy="91500"/>
          </a:xfrm>
        </p:grpSpPr>
        <p:sp>
          <p:nvSpPr>
            <p:cNvPr id="43" name="Google Shape;43;p6"/>
            <p:cNvSpPr/>
            <p:nvPr/>
          </p:nvSpPr>
          <p:spPr>
            <a:xfrm>
              <a:off x="0" y="2386584"/>
              <a:ext cx="914400" cy="91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914400" y="2386584"/>
              <a:ext cx="1828800" cy="915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6"/>
            <p:cNvSpPr/>
            <p:nvPr/>
          </p:nvSpPr>
          <p:spPr>
            <a:xfrm>
              <a:off x="2743200" y="2386584"/>
              <a:ext cx="6400800" cy="915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hyperlink" Target="https://oss.cs.fau.de" TargetMode="Externa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27430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>
                <a:solidFill>
                  <a:schemeClr val="dk1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buNone/>
              <a:defRPr b="1" sz="2400">
                <a:solidFill>
                  <a:schemeClr val="dk2"/>
                </a:solidFill>
              </a:defRPr>
            </a:lvl1pPr>
            <a:lvl2pPr lvl="1" rtl="0" algn="r">
              <a:buNone/>
              <a:defRPr b="1" sz="2400">
                <a:solidFill>
                  <a:schemeClr val="dk2"/>
                </a:solidFill>
              </a:defRPr>
            </a:lvl2pPr>
            <a:lvl3pPr lvl="2" rtl="0" algn="r">
              <a:buNone/>
              <a:defRPr b="1" sz="2400">
                <a:solidFill>
                  <a:schemeClr val="dk2"/>
                </a:solidFill>
              </a:defRPr>
            </a:lvl3pPr>
            <a:lvl4pPr lvl="3" rtl="0" algn="r">
              <a:buNone/>
              <a:defRPr b="1" sz="2400">
                <a:solidFill>
                  <a:schemeClr val="dk2"/>
                </a:solidFill>
              </a:defRPr>
            </a:lvl4pPr>
            <a:lvl5pPr lvl="4" rtl="0" algn="r">
              <a:buNone/>
              <a:defRPr b="1" sz="2400">
                <a:solidFill>
                  <a:schemeClr val="dk2"/>
                </a:solidFill>
              </a:defRPr>
            </a:lvl5pPr>
            <a:lvl6pPr lvl="5" rtl="0" algn="r">
              <a:buNone/>
              <a:defRPr b="1" sz="2400">
                <a:solidFill>
                  <a:schemeClr val="dk2"/>
                </a:solidFill>
              </a:defRPr>
            </a:lvl6pPr>
            <a:lvl7pPr lvl="6" rtl="0" algn="r">
              <a:buNone/>
              <a:defRPr b="1" sz="2400">
                <a:solidFill>
                  <a:schemeClr val="dk2"/>
                </a:solidFill>
              </a:defRPr>
            </a:lvl7pPr>
            <a:lvl8pPr lvl="7" rtl="0" algn="r">
              <a:buNone/>
              <a:defRPr b="1" sz="2400">
                <a:solidFill>
                  <a:schemeClr val="dk2"/>
                </a:solidFill>
              </a:defRPr>
            </a:lvl8pPr>
            <a:lvl9pPr lvl="8" rtl="0" algn="r">
              <a:buNone/>
              <a:defRPr b="1" sz="24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1"/>
              </a:rPr>
              <a:t>https://oss.cs.fau.de</a:t>
            </a:r>
            <a:r>
              <a:rPr b="0" lang="en" sz="900"/>
              <a:t> </a:t>
            </a:r>
            <a:endParaRPr b="0" sz="9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creativecommons.org/licenses/by/4.0/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oss.cs.fau.de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spdx.org/licenses/MIT" TargetMode="External"/><Relationship Id="rId4" Type="http://schemas.openxmlformats.org/officeDocument/2006/relationships/hyperlink" Target="https://oss.cs.fau.de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foss.uni1.de" TargetMode="External"/><Relationship Id="rId4" Type="http://schemas.openxmlformats.org/officeDocument/2006/relationships/hyperlink" Target="https://oss.cs.fau.de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mailto:dirk.riehle@fau.de" TargetMode="External"/><Relationship Id="rId4" Type="http://schemas.openxmlformats.org/officeDocument/2006/relationships/hyperlink" Target="https://oss.cs.fau.de" TargetMode="External"/><Relationship Id="rId5" Type="http://schemas.openxmlformats.org/officeDocument/2006/relationships/hyperlink" Target="mailto:dirk@riehle.org" TargetMode="External"/><Relationship Id="rId6" Type="http://schemas.openxmlformats.org/officeDocument/2006/relationships/hyperlink" Target="https://dirkriehle.com" TargetMode="External"/><Relationship Id="rId7" Type="http://schemas.openxmlformats.org/officeDocument/2006/relationships/hyperlink" Target="https://twitter.com/dirkriehle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oss.cs.fau.de" TargetMode="External"/><Relationship Id="rId4" Type="http://schemas.openxmlformats.org/officeDocument/2006/relationships/hyperlink" Target="http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Setup</a:t>
            </a:r>
            <a:endParaRPr/>
          </a:p>
        </p:txBody>
      </p:sp>
      <p:sp>
        <p:nvSpPr>
          <p:cNvPr id="52" name="Google Shape;52;p8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Dirk Riehle, FAU Erlangen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FOSS A02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Licensed under </a:t>
            </a:r>
            <a:r>
              <a:rPr lang="en" sz="1800" u="sng">
                <a:solidFill>
                  <a:schemeClr val="hlink"/>
                </a:solidFill>
                <a:hlinkClick r:id="rId3"/>
              </a:rPr>
              <a:t>CC BY 4.0 International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9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Topic</a:t>
            </a:r>
            <a:endParaRPr/>
          </a:p>
        </p:txBody>
      </p:sp>
      <p:sp>
        <p:nvSpPr>
          <p:cNvPr id="58" name="Google Shape;58;p9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This semester’s homework is a complete license compliance exercise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0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Terminology</a:t>
            </a:r>
            <a:endParaRPr/>
          </a:p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SBOM = software bill of materials, an inventory of components in a software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Package = open source component from a package manager; consists of files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Package metadata = data about a package e.g. primary license, GitHub repo, etc.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License data = detailed data from files in a given package e.g. copyright notices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License text = text of a license e.g.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https://spdx.org/licenses/MIT</a:t>
            </a:r>
            <a:r>
              <a:rPr lang="en"/>
              <a:t>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Copyright statement = Copyright (c) 1996 Random A. Hacker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0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1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Homework Instructions</a:t>
            </a:r>
            <a:endParaRPr/>
          </a:p>
        </p:txBody>
      </p:sp>
      <p:sp>
        <p:nvSpPr>
          <p:cNvPr id="72" name="Google Shape;72;p11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Through </a:t>
            </a:r>
            <a:r>
              <a:rPr lang="en" u="sng">
                <a:solidFill>
                  <a:schemeClr val="hlink"/>
                </a:solidFill>
                <a:hlinkClick r:id="rId3"/>
              </a:rPr>
              <a:t>https://foss.uni1.de</a:t>
            </a:r>
            <a:r>
              <a:rPr lang="en"/>
              <a:t> &gt; homework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4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2"/>
          <p:cNvSpPr txBox="1"/>
          <p:nvPr>
            <p:ph type="ctrTitle"/>
          </p:nvPr>
        </p:nvSpPr>
        <p:spPr>
          <a:xfrm>
            <a:off x="0" y="0"/>
            <a:ext cx="9144000" cy="2388900"/>
          </a:xfrm>
          <a:prstGeom prst="rect">
            <a:avLst/>
          </a:prstGeom>
        </p:spPr>
        <p:txBody>
          <a:bodyPr anchorCtr="0" anchor="b" bIns="274300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 Any questions?</a:t>
            </a:r>
            <a:endParaRPr/>
          </a:p>
        </p:txBody>
      </p:sp>
      <p:sp>
        <p:nvSpPr>
          <p:cNvPr id="79" name="Google Shape;79;p12"/>
          <p:cNvSpPr txBox="1"/>
          <p:nvPr>
            <p:ph idx="1" type="subTitle"/>
          </p:nvPr>
        </p:nvSpPr>
        <p:spPr>
          <a:xfrm>
            <a:off x="0" y="2569475"/>
            <a:ext cx="9144000" cy="2574000"/>
          </a:xfrm>
          <a:prstGeom prst="rect">
            <a:avLst/>
          </a:prstGeom>
        </p:spPr>
        <p:txBody>
          <a:bodyPr anchorCtr="0" anchor="t" bIns="91425" lIns="91425" spcFirstLastPara="1" rIns="91425" wrap="square" tIns="274300">
            <a:noAutofit/>
          </a:bodyPr>
          <a:lstStyle/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3"/>
              </a:rPr>
              <a:t>dirk.riehle@fau.de</a:t>
            </a:r>
            <a:r>
              <a:rPr lang="en"/>
              <a:t> </a:t>
            </a:r>
            <a:r>
              <a:rPr lang="en" sz="2400"/>
              <a:t>–</a:t>
            </a:r>
            <a:r>
              <a:rPr lang="en"/>
              <a:t> </a:t>
            </a:r>
            <a:r>
              <a:rPr lang="en" u="sng">
                <a:solidFill>
                  <a:schemeClr val="hlink"/>
                </a:solidFill>
                <a:hlinkClick r:id="rId4"/>
              </a:rPr>
              <a:t>https://oss.cs.fau.de</a:t>
            </a:r>
            <a:endParaRPr/>
          </a:p>
          <a:p>
            <a:pPr indent="0" lvl="0" marL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u="sng">
                <a:solidFill>
                  <a:schemeClr val="hlink"/>
                </a:solidFill>
                <a:hlinkClick r:id="rId5"/>
              </a:rPr>
              <a:t>dirk@riehle.org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6"/>
              </a:rPr>
              <a:t>https://dirkriehle.com</a:t>
            </a:r>
            <a:r>
              <a:rPr lang="en" sz="2400"/>
              <a:t> – </a:t>
            </a:r>
            <a:r>
              <a:rPr lang="en" sz="2400" u="sng">
                <a:solidFill>
                  <a:schemeClr val="hlink"/>
                </a:solidFill>
                <a:hlinkClick r:id="rId7"/>
              </a:rPr>
              <a:t>@dirkriehle</a:t>
            </a:r>
            <a:endParaRPr sz="24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title"/>
          </p:nvPr>
        </p:nvSpPr>
        <p:spPr>
          <a:xfrm>
            <a:off x="0" y="0"/>
            <a:ext cx="9144000" cy="685800"/>
          </a:xfrm>
          <a:prstGeom prst="rect">
            <a:avLst/>
          </a:prstGeom>
        </p:spPr>
        <p:txBody>
          <a:bodyPr anchorCtr="0" anchor="ctr" bIns="91425" lIns="27430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Legal Notices</a:t>
            </a:r>
            <a:endParaRPr/>
          </a:p>
        </p:txBody>
      </p:sp>
      <p:sp>
        <p:nvSpPr>
          <p:cNvPr id="85" name="Google Shape;85;p13"/>
          <p:cNvSpPr txBox="1"/>
          <p:nvPr>
            <p:ph idx="12" type="sldNum"/>
          </p:nvPr>
        </p:nvSpPr>
        <p:spPr>
          <a:xfrm>
            <a:off x="7315202" y="4416550"/>
            <a:ext cx="1828800" cy="731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lang="en" sz="900" u="sng">
                <a:solidFill>
                  <a:schemeClr val="hlink"/>
                </a:solidFill>
                <a:hlinkClick r:id="rId3"/>
              </a:rPr>
              <a:t>https://oss.cs.fau.de</a:t>
            </a:r>
            <a:r>
              <a:rPr b="0" lang="en" sz="900">
                <a:solidFill>
                  <a:schemeClr val="dk2"/>
                </a:solidFill>
              </a:rPr>
              <a:t> </a:t>
            </a:r>
            <a:endParaRPr b="0" sz="900">
              <a:solidFill>
                <a:schemeClr val="dk2"/>
              </a:solidFill>
            </a:endParaRPr>
          </a:p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>
            <a:off x="274320" y="914400"/>
            <a:ext cx="8595300" cy="4114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License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Licensed under the </a:t>
            </a:r>
            <a:r>
              <a:rPr lang="en" u="sng">
                <a:solidFill>
                  <a:schemeClr val="hlink"/>
                </a:solidFill>
                <a:hlinkClick r:id="rId4"/>
              </a:rPr>
              <a:t>CC BY 4.0 International</a:t>
            </a:r>
            <a:r>
              <a:rPr lang="en"/>
              <a:t> license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Copyright</a:t>
            </a:r>
            <a:endParaRPr b="1"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© Copyright 2025 Dirk Riehle, some rights reserved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POSS Slides Template">
  <a:themeElements>
    <a:clrScheme name="Simple Light">
      <a:dk1>
        <a:srgbClr val="000000"/>
      </a:dk1>
      <a:lt1>
        <a:srgbClr val="FFFFFF"/>
      </a:lt1>
      <a:dk2>
        <a:srgbClr val="404040"/>
      </a:dk2>
      <a:lt2>
        <a:srgbClr val="808080"/>
      </a:lt2>
      <a:accent1>
        <a:srgbClr val="D0D0D0"/>
      </a:accent1>
      <a:accent2>
        <a:srgbClr val="4169E1"/>
      </a:accent2>
      <a:accent3>
        <a:srgbClr val="4CAF50"/>
      </a:accent3>
      <a:accent4>
        <a:srgbClr val="FEB612"/>
      </a:accent4>
      <a:accent5>
        <a:srgbClr val="F36838"/>
      </a:accent5>
      <a:accent6>
        <a:srgbClr val="8E44AD"/>
      </a:accent6>
      <a:hlink>
        <a:srgbClr val="1E9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